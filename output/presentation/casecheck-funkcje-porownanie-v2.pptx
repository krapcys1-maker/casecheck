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451acdc4a7493d" /><Relationship Type="http://schemas.openxmlformats.org/officeDocument/2006/relationships/extended-properties" Target="/docProps/app.xml" Id="Rc0c806f148d54d1c" /><Relationship Type="http://schemas.openxmlformats.org/officeDocument/2006/relationships/officeDocument" Target="/ppt/presentation.xml" Id="R281aab3e02a24c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64332b14994290"/>
  </p:sldMasterIdLst>
  <p:notesMasterIdLst>
    <p:notesMasterId xmlns:r="http://schemas.openxmlformats.org/officeDocument/2006/relationships" r:id="R17ba46c8e1ef4f1d"/>
  </p:notesMasterIdLst>
  <p:sldIdLst>
    <p:sldId xmlns:r="http://schemas.openxmlformats.org/officeDocument/2006/relationships" id="256" r:id="R51d28247278541e3"/>
    <p:sldId xmlns:r="http://schemas.openxmlformats.org/officeDocument/2006/relationships" id="257" r:id="Re861acd4359f4b81"/>
    <p:sldId xmlns:r="http://schemas.openxmlformats.org/officeDocument/2006/relationships" id="258" r:id="R31a13f7edf7d45ac"/>
    <p:sldId xmlns:r="http://schemas.openxmlformats.org/officeDocument/2006/relationships" id="259" r:id="R52770ef491bd4e6b"/>
    <p:sldId xmlns:r="http://schemas.openxmlformats.org/officeDocument/2006/relationships" id="260" r:id="R3813f868d1904ba2"/>
    <p:sldId xmlns:r="http://schemas.openxmlformats.org/officeDocument/2006/relationships" id="261" r:id="R2972c22e850e40eb"/>
    <p:sldId xmlns:r="http://schemas.openxmlformats.org/officeDocument/2006/relationships" id="262" r:id="R41d0c5847d704768"/>
    <p:sldId xmlns:r="http://schemas.openxmlformats.org/officeDocument/2006/relationships" id="263" r:id="R1aedba6042c3481f"/>
    <p:sldId xmlns:r="http://schemas.openxmlformats.org/officeDocument/2006/relationships" id="264" r:id="R2e0a886380fe4241"/>
    <p:sldId xmlns:r="http://schemas.openxmlformats.org/officeDocument/2006/relationships" id="265" r:id="R355f71c3703d4616"/>
    <p:sldId xmlns:r="http://schemas.openxmlformats.org/officeDocument/2006/relationships" id="266" r:id="R0067913ab9374216"/>
    <p:sldId xmlns:r="http://schemas.openxmlformats.org/officeDocument/2006/relationships" id="267" r:id="R0e85ce2647a24b48"/>
    <p:sldId xmlns:r="http://schemas.openxmlformats.org/officeDocument/2006/relationships" id="268" r:id="R8074d64fdaa84fff"/>
    <p:sldId xmlns:r="http://schemas.openxmlformats.org/officeDocument/2006/relationships" id="269" r:id="R0c99da3c4cde4562"/>
    <p:sldId xmlns:r="http://schemas.openxmlformats.org/officeDocument/2006/relationships" id="270" r:id="Ra1bbc56ad3f84670"/>
    <p:sldId xmlns:r="http://schemas.openxmlformats.org/officeDocument/2006/relationships" id="271" r:id="R1d45af6236184624"/>
    <p:sldId xmlns:r="http://schemas.openxmlformats.org/officeDocument/2006/relationships" id="272" r:id="R6908e962c72b4675"/>
    <p:sldId xmlns:r="http://schemas.openxmlformats.org/officeDocument/2006/relationships" id="273" r:id="Ra79fed744fd944e0"/>
    <p:sldId xmlns:r="http://schemas.openxmlformats.org/officeDocument/2006/relationships" id="274" r:id="R894dbf70058845ab"/>
    <p:sldId xmlns:r="http://schemas.openxmlformats.org/officeDocument/2006/relationships" id="275" r:id="R41e414b45da045e3"/>
    <p:sldId xmlns:r="http://schemas.openxmlformats.org/officeDocument/2006/relationships" id="276" r:id="R107bafc4aafa4b94"/>
    <p:sldId xmlns:r="http://schemas.openxmlformats.org/officeDocument/2006/relationships" id="277" r:id="R13f3a4f48b5848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c384ceb64b4328" /><Relationship Type="http://schemas.openxmlformats.org/officeDocument/2006/relationships/slideMaster" Target="/ppt/slideMasters/slideMaster1.xml" Id="Rae64332b14994290" /><Relationship Type="http://schemas.openxmlformats.org/officeDocument/2006/relationships/notesMaster" Target="/ppt/notesMasters/notesMaster1.xml" Id="R17ba46c8e1ef4f1d" /><Relationship Type="http://schemas.openxmlformats.org/officeDocument/2006/relationships/presProps" Target="/ppt/presProps.xml" Id="R15ef05f064d94c8c" /><Relationship Type="http://schemas.openxmlformats.org/officeDocument/2006/relationships/tableStyles" Target="/ppt/tableStyles.xml" Id="R952af6210fb94697" /><Relationship Type="http://schemas.openxmlformats.org/officeDocument/2006/relationships/slide" Target="/ppt/slides/slide1.xml" Id="R51d28247278541e3" /><Relationship Type="http://schemas.openxmlformats.org/officeDocument/2006/relationships/slide" Target="/ppt/slides/slide2.xml" Id="Re861acd4359f4b81" /><Relationship Type="http://schemas.openxmlformats.org/officeDocument/2006/relationships/slide" Target="/ppt/slides/slide3.xml" Id="R31a13f7edf7d45ac" /><Relationship Type="http://schemas.openxmlformats.org/officeDocument/2006/relationships/slide" Target="/ppt/slides/slide4.xml" Id="R52770ef491bd4e6b" /><Relationship Type="http://schemas.openxmlformats.org/officeDocument/2006/relationships/slide" Target="/ppt/slides/slide5.xml" Id="R3813f868d1904ba2" /><Relationship Type="http://schemas.openxmlformats.org/officeDocument/2006/relationships/slide" Target="/ppt/slides/slide6.xml" Id="R2972c22e850e40eb" /><Relationship Type="http://schemas.openxmlformats.org/officeDocument/2006/relationships/slide" Target="/ppt/slides/slide7.xml" Id="R41d0c5847d704768" /><Relationship Type="http://schemas.openxmlformats.org/officeDocument/2006/relationships/slide" Target="/ppt/slides/slide8.xml" Id="R1aedba6042c3481f" /><Relationship Type="http://schemas.openxmlformats.org/officeDocument/2006/relationships/slide" Target="/ppt/slides/slide9.xml" Id="R2e0a886380fe4241" /><Relationship Type="http://schemas.openxmlformats.org/officeDocument/2006/relationships/slide" Target="/ppt/slides/slide10.xml" Id="R355f71c3703d4616" /><Relationship Type="http://schemas.openxmlformats.org/officeDocument/2006/relationships/slide" Target="/ppt/slides/slide11.xml" Id="R0067913ab9374216" /><Relationship Type="http://schemas.openxmlformats.org/officeDocument/2006/relationships/slide" Target="/ppt/slides/slide12.xml" Id="R0e85ce2647a24b48" /><Relationship Type="http://schemas.openxmlformats.org/officeDocument/2006/relationships/slide" Target="/ppt/slides/slide13.xml" Id="R8074d64fdaa84fff" /><Relationship Type="http://schemas.openxmlformats.org/officeDocument/2006/relationships/slide" Target="/ppt/slides/slide14.xml" Id="R0c99da3c4cde4562" /><Relationship Type="http://schemas.openxmlformats.org/officeDocument/2006/relationships/slide" Target="/ppt/slides/slide15.xml" Id="Ra1bbc56ad3f84670" /><Relationship Type="http://schemas.openxmlformats.org/officeDocument/2006/relationships/slide" Target="/ppt/slides/slide16.xml" Id="R1d45af6236184624" /><Relationship Type="http://schemas.openxmlformats.org/officeDocument/2006/relationships/slide" Target="/ppt/slides/slide17.xml" Id="R6908e962c72b4675" /><Relationship Type="http://schemas.openxmlformats.org/officeDocument/2006/relationships/slide" Target="/ppt/slides/slide18.xml" Id="Ra79fed744fd944e0" /><Relationship Type="http://schemas.openxmlformats.org/officeDocument/2006/relationships/slide" Target="/ppt/slides/slide19.xml" Id="R894dbf70058845ab" /><Relationship Type="http://schemas.openxmlformats.org/officeDocument/2006/relationships/slide" Target="/ppt/slides/slide20.xml" Id="R41e414b45da045e3" /><Relationship Type="http://schemas.openxmlformats.org/officeDocument/2006/relationships/slide" Target="/ppt/slides/slide21.xml" Id="R107bafc4aafa4b94" /><Relationship Type="http://schemas.openxmlformats.org/officeDocument/2006/relationships/slide" Target="/ppt/slides/slide22.xml" Id="R13f3a4f48b5848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aab2069faa42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a775c1f2154f12" /><Relationship Type="http://schemas.openxmlformats.org/officeDocument/2006/relationships/notesMaster" Target="/ppt/notesMasters/notesMaster1.xml" Id="Rf84efa6a5ae54c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2eec2359754110" /><Relationship Type="http://schemas.openxmlformats.org/officeDocument/2006/relationships/notesMaster" Target="/ppt/notesMasters/notesMaster1.xml" Id="Rc0745e8bf10344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3321dd96134083" /><Relationship Type="http://schemas.openxmlformats.org/officeDocument/2006/relationships/notesMaster" Target="/ppt/notesMasters/notesMaster1.xml" Id="R28cc95e1c60745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a94aebf6d342ec" /><Relationship Type="http://schemas.openxmlformats.org/officeDocument/2006/relationships/notesMaster" Target="/ppt/notesMasters/notesMaster1.xml" Id="Rdc33421bd02940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f0dc18f63f4331" /><Relationship Type="http://schemas.openxmlformats.org/officeDocument/2006/relationships/notesMaster" Target="/ppt/notesMasters/notesMaster1.xml" Id="Rd6c367d6287b44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dd7e166ce54380" /><Relationship Type="http://schemas.openxmlformats.org/officeDocument/2006/relationships/notesMaster" Target="/ppt/notesMasters/notesMaster1.xml" Id="Racad77641b9047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a15f14d6a945b5" /><Relationship Type="http://schemas.openxmlformats.org/officeDocument/2006/relationships/notesMaster" Target="/ppt/notesMasters/notesMaster1.xml" Id="R8ad155d5ad4d4b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81f157aec14eb9" /><Relationship Type="http://schemas.openxmlformats.org/officeDocument/2006/relationships/notesMaster" Target="/ppt/notesMasters/notesMaster1.xml" Id="Rcbd8ff4849fe41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bc985dad774026" /><Relationship Type="http://schemas.openxmlformats.org/officeDocument/2006/relationships/notesMaster" Target="/ppt/notesMasters/notesMaster1.xml" Id="R3200eb560de34b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1c7e014ac04ee9" /><Relationship Type="http://schemas.openxmlformats.org/officeDocument/2006/relationships/notesMaster" Target="/ppt/notesMasters/notesMaster1.xml" Id="Redc74bfeade54a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de491ba4432452d" /><Relationship Type="http://schemas.openxmlformats.org/officeDocument/2006/relationships/notesMaster" Target="/ppt/notesMasters/notesMaster1.xml" Id="R1fa81357277f4ec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da151e3250b4ff2" /><Relationship Type="http://schemas.openxmlformats.org/officeDocument/2006/relationships/notesMaster" Target="/ppt/notesMasters/notesMaster1.xml" Id="Rfbee00e0705744b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4ad907862194e84" /><Relationship Type="http://schemas.openxmlformats.org/officeDocument/2006/relationships/notesMaster" Target="/ppt/notesMasters/notesMaster1.xml" Id="R75686b19414d44a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4cee88bf4e64fdc" /><Relationship Type="http://schemas.openxmlformats.org/officeDocument/2006/relationships/notesMaster" Target="/ppt/notesMasters/notesMaster1.xml" Id="R596e4fb2ae5d4f0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8637e905329476f" /><Relationship Type="http://schemas.openxmlformats.org/officeDocument/2006/relationships/notesMaster" Target="/ppt/notesMasters/notesMaster1.xml" Id="Re406cee96a074e5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94dfbbb2bca48e0" /><Relationship Type="http://schemas.openxmlformats.org/officeDocument/2006/relationships/notesMaster" Target="/ppt/notesMasters/notesMaster1.xml" Id="R4e4c51a15d544b3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fc65bbeb99a456f" /><Relationship Type="http://schemas.openxmlformats.org/officeDocument/2006/relationships/notesMaster" Target="/ppt/notesMasters/notesMaster1.xml" Id="Raa33f95093b145f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ec19379cce4435c" /><Relationship Type="http://schemas.openxmlformats.org/officeDocument/2006/relationships/notesMaster" Target="/ppt/notesMasters/notesMaster1.xml" Id="Rd71f305aaf7d40e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0eededc9be84855" /><Relationship Type="http://schemas.openxmlformats.org/officeDocument/2006/relationships/notesMaster" Target="/ppt/notesMasters/notesMaster1.xml" Id="R613d68c9c85f48c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f7be3547ab84b6f" /><Relationship Type="http://schemas.openxmlformats.org/officeDocument/2006/relationships/notesMaster" Target="/ppt/notesMasters/notesMaster1.xml" Id="Rda79139ccc724f8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39988aef8fa4901" /><Relationship Type="http://schemas.openxmlformats.org/officeDocument/2006/relationships/notesMaster" Target="/ppt/notesMasters/notesMaster1.xml" Id="R1ee8b6507665430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ae4e65a924c42b7" /><Relationship Type="http://schemas.openxmlformats.org/officeDocument/2006/relationships/notesMaster" Target="/ppt/notesMasters/notesMaster1.xml" Id="R3f5d8a598fe044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https://github.com/krapcys1-maker/casecheck/blob/main/docs/STATUS-PROJEKTU.md. Stan funkcji: 3.10.2026. Wszystkie przykłady i zrzuty dotyczą fikcyjnych danych.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https://github.com/krapcys1-maker/casecheck/blob/main/docs/OBSLUGA.md. Stan funkcji: 3.10.2026. Wszystkie przykłady i zrzuty dotyczą fikcyjnych danych.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https://github.com/krapcys1-maker/casecheck/blob/main/docs/DEMO.md. Stan funkcji: 3.10.2026. Wszystkie przykłady i zrzuty dotyczą fikcyjnych danych.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https://github.com/krapcys1-maker/casecheck/blob/main/docs/OBSLUGA.md. Stan funkcji: 3.10.2026. Wszystkie przykłady i zrzuty dotyczą fikcyjnych danych.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https://github.com/krapcys1-maker/casecheck/blob/main/docs/PRZEGLAD-OCR.md. Stan funkcji: 3.10.2026. Wszystkie przykłady i zrzuty dotyczą fikcyjnych danych.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https://github.com/krapcys1-maker/casecheck/blob/main/docs/ARCHITEKTURA.md. Stan funkcji: 3.10.2026. Wszystkie przykłady i zrzuty dotyczą fikcyjnych danych.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https://github.com/krapcys1-maker/casecheck/blob/main/docs/OBSLUGA.md. Stan funkcji: 3.10.2026. Wszystkie przykłady i zrzuty dotyczą fikcyjnych danych.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https://github.com/krapcys1-maker/casecheck/blob/main/docs/RECZNE-TESTY-KOREKT.md. Stan funkcji: 3.10.2026. Wszystkie przykłady i zrzuty dotyczą fikcyjnych danych.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https://github.com/krapcys1-maker/casecheck/blob/main/legal/templates.json. Stan funkcji: 3.10.2026. Wszystkie przykłady i zrzuty dotyczą fikcyjnych danych.</a:t>
            </a:r>
          </a:p>
          <a:p xmlns:a="http://schemas.openxmlformats.org/drawingml/2006/main">
            <a:r>
              <a:t>Źródło: https://github.com/krapcys1-maker/casecheck/blob/main/src/app/firm-templates.mjs. Stan funkcji: 3.10.2026. Wszystkie przykłady i zrzuty dotyczą fikcyjnych danych.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https://github.com/krapcys1-maker/casecheck/blob/main/docs/RECZNE-TESTY-KOREKT.md. Stan funkcji: 3.10.2026. Wszystkie przykłady i zrzuty dotyczą fikcyjnych danych.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https://github.com/krapcys1-maker/casecheck/blob/main/docs/RECZNY-PRZEGLAD-PORTALU.md. Stan funkcji: 3.10.2026. Wszystkie przykłady i zrzuty dotyczą fikcyjnych danych.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https://github.com/krapcys1-maker/casecheck/blob/main/src/app/store.mjs. Stan funkcji: 3.10.2026. Wszystkie przykłady i zrzuty dotyczą fikcyjnych danych.</a:t>
            </a:r>
          </a:p>
          <a:p xmlns:a="http://schemas.openxmlformats.org/drawingml/2006/main">
            <a:r>
              <a:t>Źródło: https://github.com/krapcys1-maker/casecheck/blob/main/docs/OBSLUGA.md. Stan funkcji: 3.10.2026. Wszystkie przykłady i zrzuty dotyczą fikcyjnych danych.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https://github.com/krapcys1-maker/casecheck/blob/main/docs/INTEGRACJA.md. Stan funkcji: 3.10.2026. Wszystkie przykłady i zrzuty dotyczą fikcyjnych danych.</a:t>
            </a:r>
          </a:p>
          <a:p xmlns:a="http://schemas.openxmlformats.org/drawingml/2006/main">
            <a:r>
              <a:t>Źródło: https://github.com/krapcys1-maker/casecheck/blob/main/docs/OBSLUGA.md. Stan funkcji: 3.10.2026. Wszystkie przykłady i zrzuty dotyczą fikcyjnych danych.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https://github.com/krapcys1-maker/casecheck/blob/main/docs/ODZYSKIWANIE-WYNIKOW.md. Stan funkcji: 3.10.2026. Wszystkie przykłady i zrzuty dotyczą fikcyjnych danych.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https://github.com/krapcys1-maker/casecheck/blob/main/docs/RECZNE-TESTY-KOREKT.md. Stan funkcji: 3.10.2026. Wszystkie przykłady i zrzuty dotyczą fikcyjnych danych.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https://github.com/krapcys1-maker/casecheck/blob/main/docs/TESTY.md. Stan funkcji: 3.10.2026. Wszystkie przykłady i zrzuty dotyczą fikcyjnych danych.</a:t>
            </a:r>
          </a:p>
          <a:p xmlns:a="http://schemas.openxmlformats.org/drawingml/2006/main">
            <a:r>
              <a:t>Źródło: https://github.com/krapcys1-maker/casecheck/blob/main/docs/correction-review-2026-10-03.json. Stan funkcji: 3.10.2026. Wszystkie przykłady i zrzuty dotyczą fikcyjnych danych.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LegalFlow: deklaracje z oficjalnej strony https://restrukturyzacja.boosterai.pl/ odczytanej 3.10.2026. Bez dostępu do panelu i pomiaru skuteczności. CaseCheck: https://github.com/krapcys1-maker/casecheck/blob/main/docs/POROWNANIE-LEGALFLOW.md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LegalFlow: deklaracje z oficjalnej strony https://restrukturyzacja.boosterai.pl/ odczytanej 3.10.2026. Bez dostępu do panelu i pomiaru skuteczności. CaseCheck: https://github.com/krapcys1-maker/casecheck/blob/main/docs/POROWNANIE-LEGALFLOW.md</a:t>
            </a:r>
          </a:p>
          <a:p xmlns:a="http://schemas.openxmlformats.org/drawingml/2006/main">
            <a:r>
              <a:t>Audio: https://boosterai.pl/pl, 3.10.2026.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https://github.com/krapcys1-maker/casecheck/blob/main/docs/AUDYT.md. Stan funkcji: 3.10.2026. Wszystkie przykłady i zrzuty dotyczą fikcyjnych danych.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https://github.com/krapcys1-maker/casecheck/blob/main/docs/ROZMOWA-BOOSTER.md. Stan funkcji: 3.10.2026. Wszystkie przykłady i zrzuty dotyczą fikcyjnych danych.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https://github.com/krapcys1-maker/casecheck/blob/main/docs/STATUS-PROJEKTU.md. Stan funkcji: 3.10.2026. Wszystkie przykłady i zrzuty dotyczą fikcyjnych danych.</a:t>
            </a:r>
          </a:p>
          <a:p xmlns:a="http://schemas.openxmlformats.org/drawingml/2006/main">
            <a:r>
              <a:t>Źródło: https://github.com/krapcys1-maker/casecheck/blob/main/deploy/APP.md. Stan funkcji: 3.10.2026. Wszystkie przykłady i zrzuty dotyczą fikcyjnych danych.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Źródła z datą dostępu 3.10.2026. Oficjalna oferta konkurenta nie zastępuje audytu produktu. https://github.com/krapcys1-maker/casecheck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1f205fe54546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720f4f1fc74ed6" /><Relationship Type="http://schemas.openxmlformats.org/officeDocument/2006/relationships/slideLayout" Target="/ppt/slideLayouts/slideLayout1.xml" Id="R53107788d23c4c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107788d23c4c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d895c3b17437f" /><Relationship Type="http://schemas.openxmlformats.org/officeDocument/2006/relationships/notesSlide" Target="/ppt/notesSlides/notesSlide1.xml" Id="R9774fac4186043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c7c70f578431f" /><Relationship Type="http://schemas.openxmlformats.org/officeDocument/2006/relationships/notesSlide" Target="/ppt/notesSlides/notesSlide2.xml" Id="R099127158be74c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10a0238da04df8" /><Relationship Type="http://schemas.openxmlformats.org/officeDocument/2006/relationships/image" Target="/ppt/media/image.jpeg" Id="R799d1c85601c4cc3" /><Relationship Type="http://schemas.openxmlformats.org/officeDocument/2006/relationships/notesSlide" Target="/ppt/notesSlides/notesSlide3.xml" Id="Rbcd8402126c54e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f92096b6c42b1" /><Relationship Type="http://schemas.openxmlformats.org/officeDocument/2006/relationships/notesSlide" Target="/ppt/notesSlides/notesSlide4.xml" Id="R63f68dc4e1d546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bbad3f0bc54f2d" /><Relationship Type="http://schemas.openxmlformats.org/officeDocument/2006/relationships/image" Target="/ppt/media/image2.jpeg" Id="R64cb1acc09fb4618" /><Relationship Type="http://schemas.openxmlformats.org/officeDocument/2006/relationships/notesSlide" Target="/ppt/notesSlides/notesSlide5.xml" Id="R13467ae8283148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47737c21841f3" /><Relationship Type="http://schemas.openxmlformats.org/officeDocument/2006/relationships/notesSlide" Target="/ppt/notesSlides/notesSlide6.xml" Id="Re2a4961d4a4448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961d9305044141" /><Relationship Type="http://schemas.openxmlformats.org/officeDocument/2006/relationships/notesSlide" Target="/ppt/notesSlides/notesSlide7.xml" Id="R9e9457bb594448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db5721edf04246" /><Relationship Type="http://schemas.openxmlformats.org/officeDocument/2006/relationships/image" Target="/ppt/media/image3.jpeg" Id="Ra32417bdbf6441f0" /><Relationship Type="http://schemas.openxmlformats.org/officeDocument/2006/relationships/notesSlide" Target="/ppt/notesSlides/notesSlide8.xml" Id="R9df7947103d1483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d5625f4f84167" /><Relationship Type="http://schemas.openxmlformats.org/officeDocument/2006/relationships/notesSlide" Target="/ppt/notesSlides/notesSlide9.xml" Id="Raa307c2723754fb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c8f2b49a8c457c" /><Relationship Type="http://schemas.openxmlformats.org/officeDocument/2006/relationships/image" Target="/ppt/media/image.png" Id="Rd870c9bff3894150" /><Relationship Type="http://schemas.openxmlformats.org/officeDocument/2006/relationships/notesSlide" Target="/ppt/notesSlides/notesSlide10.xml" Id="R1406957ffdc047b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4da089ad34023" /><Relationship Type="http://schemas.openxmlformats.org/officeDocument/2006/relationships/image" Target="/ppt/media/image4.jpeg" Id="Rf4d34f680a844dd5" /><Relationship Type="http://schemas.openxmlformats.org/officeDocument/2006/relationships/notesSlide" Target="/ppt/notesSlides/notesSlide11.xml" Id="Rd24aea14ba064ee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ed0fa2ad054b07" /><Relationship Type="http://schemas.openxmlformats.org/officeDocument/2006/relationships/notesSlide" Target="/ppt/notesSlides/notesSlide12.xml" Id="Ra23af7045a174a2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97abf6bcd48d9" /><Relationship Type="http://schemas.openxmlformats.org/officeDocument/2006/relationships/notesSlide" Target="/ppt/notesSlides/notesSlide13.xml" Id="R37010ef213214b7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f10af25fc4a56" /><Relationship Type="http://schemas.openxmlformats.org/officeDocument/2006/relationships/image" Target="/ppt/media/image5.jpeg" Id="Rf023936eeec243da" /><Relationship Type="http://schemas.openxmlformats.org/officeDocument/2006/relationships/notesSlide" Target="/ppt/notesSlides/notesSlide14.xml" Id="R6b8bf18917e7492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483a0a8a048df" /><Relationship Type="http://schemas.openxmlformats.org/officeDocument/2006/relationships/notesSlide" Target="/ppt/notesSlides/notesSlide15.xml" Id="R405144f93bbb496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469ca8de4453a" /><Relationship Type="http://schemas.openxmlformats.org/officeDocument/2006/relationships/notesSlide" Target="/ppt/notesSlides/notesSlide16.xml" Id="R9b665e57a6b64e5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2327aa75f47cb" /><Relationship Type="http://schemas.openxmlformats.org/officeDocument/2006/relationships/notesSlide" Target="/ppt/notesSlides/notesSlide17.xml" Id="R768be383e5154e5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12498eece4417" /><Relationship Type="http://schemas.openxmlformats.org/officeDocument/2006/relationships/notesSlide" Target="/ppt/notesSlides/notesSlide18.xml" Id="R999214fbcca14eb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5572a7bad4a72" /><Relationship Type="http://schemas.openxmlformats.org/officeDocument/2006/relationships/notesSlide" Target="/ppt/notesSlides/notesSlide19.xml" Id="R3cd585a5320b4d4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4c9046eec466c" /><Relationship Type="http://schemas.openxmlformats.org/officeDocument/2006/relationships/notesSlide" Target="/ppt/notesSlides/notesSlide20.xml" Id="Rc43e0733b3d9496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99a63ecc844ab" /><Relationship Type="http://schemas.openxmlformats.org/officeDocument/2006/relationships/notesSlide" Target="/ppt/notesSlides/notesSlide21.xml" Id="R36c0ef431f6d4ff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7dd340bb54b6a" /><Relationship Type="http://schemas.openxmlformats.org/officeDocument/2006/relationships/notesSlide" Target="/ppt/notesSlides/notesSlide22.xml" Id="Rdd05381fad9441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C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B1D802-E1F4-467F-ABFF-CE6BB49E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DDAD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DDAD5"/>
                </a:solidFill>
                <a:latin typeface="Arial"/>
                <a:ea typeface="Arial"/>
                <a:cs typeface="Arial"/>
              </a:rPr>
              <a:t>CaseCheck   /   3 października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0D498-C854-4D48-B451-67C82D1A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DDAD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DDAD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F2AB09-2831-46B3-AA66-8B2EEB3F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10934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CaseCheck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16659E-21A6-409E-9D3B-55215F37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1028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CDDAD5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CDDAD5"/>
                </a:solidFill>
                <a:latin typeface="Arial"/>
                <a:ea typeface="Arial"/>
                <a:cs typeface="Arial"/>
              </a:rPr>
              <a:t>Przyjęcie i przegląd sprawy</a:t>
            </a:r>
          </a:p>
          <a:p xmlns:a="http://schemas.openxmlformats.org/drawingml/2006/main">
            <a:pPr>
              <a:defRPr sz="3300" b="0">
                <a:solidFill>
                  <a:srgbClr val="CDDAD5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CDDAD5"/>
                </a:solidFill>
                <a:latin typeface="Arial"/>
                <a:ea typeface="Arial"/>
                <a:cs typeface="Arial"/>
              </a:rPr>
              <a:t>z kontrolą źródeł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44125C-8B36-4023-96C6-F61C0164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19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DDAD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DDAD5"/>
                </a:solidFill>
                <a:latin typeface="Arial"/>
                <a:ea typeface="Arial"/>
                <a:cs typeface="Arial"/>
              </a:rPr>
              <a:t>Działanie produktu, porównanie z LegalFlow</a:t>
            </a:r>
          </a:p>
          <a:p xmlns:a="http://schemas.openxmlformats.org/drawingml/2006/main">
            <a:pPr>
              <a:defRPr sz="2100" b="0">
                <a:solidFill>
                  <a:srgbClr val="CDDAD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DDAD5"/>
                </a:solidFill>
                <a:latin typeface="Arial"/>
                <a:ea typeface="Arial"/>
                <a:cs typeface="Arial"/>
              </a:rPr>
              <a:t>i propozycja współpracy freelance</a:t>
            </a:r>
          </a:p>
        </p:txBody>
      </p:sp>
    </p:spTree>
    <p:extLst>
      <p:ext uri="{BB962C8B-B14F-4D97-AF65-F5344CB8AC3E}">
        <p14:creationId xmlns:p14="http://schemas.microsoft.com/office/powerpoint/2010/main" val="16139936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75033E-A8AF-43B4-9F6C-BEE56670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Obieg sprawy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DD9CC1-1FE2-4B87-9B8A-6DB40B02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CaseCheck   /   3 października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5220D-855F-4177-8E42-335880EE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07DF43-D6BA-4FA2-8709-7315F424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01   Klient i dokumenty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0F7BF-F568-4479-96A3-9A8B5B31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Wywiad konsumencki lub firmowy, wiadomości i załączniki.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F36427-1362-4E6B-BD46-1FDFD614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02   Odczyt i przegląd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AA2622-186B-432E-8803-9279FF50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99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Reguły lokalne oraz API, cytaty, strony, korekty i kontrola sald.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BD7B4E-84FE-4FA5-ADB0-820191FF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03   Pisma i współpraca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B3AF01-A440-40B2-AF08-37191A77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148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Wzory, zatwierdzona wersja, PDF/Word oraz portal klienta.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89F883-8BC2-4CC4-9E9A-789FAF61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387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04   Dalsza praca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C96A51-98BC-4F31-992A-4031EBBD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Zadania, historia, eksport JSON i zamknięcie sprawy.</a:t>
            </a:r>
          </a:p>
        </p:txBody>
      </p:sp>
    </p:spTree>
    <p:extLst>
      <p:ext uri="{BB962C8B-B14F-4D97-AF65-F5344CB8AC3E}">
        <p14:creationId xmlns:p14="http://schemas.microsoft.com/office/powerpoint/2010/main" val="9918677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79CF5C-9E49-40D6-BD87-9A4DF4C2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Przykład: różnica 10 000 zł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28E59F-ED8C-4AE5-9D0F-45257342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CaseCheck   /   3 października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42C547-C27C-4096-ADCF-17FF2E2D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CE12A-193D-493C-9A42-E38175B2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4777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C39"/>
                </a:solidFill>
                <a:latin typeface="Arial"/>
                <a:ea typeface="Arial"/>
                <a:cs typeface="Arial"/>
              </a:rPr>
              <a:t>Deklaracja klienta: 120 000 zł. Dokumenty: 110 000 zł.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9d1c85601c4cc3"/>
          <a:stretch xmlns:a="http://schemas.openxmlformats.org/drawingml/2006/main"/>
        </p:blipFill>
        <p:spPr>
          <a:xfrm xmlns:a="http://schemas.openxmlformats.org/drawingml/2006/main">
            <a:off x="2279880" y="1800225"/>
            <a:ext cx="7632241" cy="42957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618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8609D4-5F7A-48F5-BEDE-86B41385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Wywiad i kartoteka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1BA2A0-7DF0-45D9-B033-2E356A71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CaseCheck   /   3 października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BF0613-1399-4B43-BBCA-EEC3450B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62E183-B437-4049-B25A-E059E867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Dwie ścieżki sprawy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1A371D-6281-47B6-B061-C1594E0B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Konsument i firma mają właściwe pytania oraz pola danych.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CD6A3A-1B47-48F7-B2D5-DE9F4803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Rozmowa z kontrolą braków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9B8CD1-3D40-4682-B681-4FAB3E88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7180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Kolejne pytanie dotyczy brakującej informacji. Zapis może działać bez AI.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EC186-681C-4C80-846B-C066187E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Przekazanie człowiekowi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FB21C9-EAB9-4201-B9DE-E7885C57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3860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Klient może poprosić o kontakt. Zespół zachowuje historię rozmowy.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277660-5EC7-4C79-AD82-BBF2BF15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Kartoteka zespołu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993B83-6F62-4ED7-96C4-9B7B0564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Filtry, etap sprawy, braki, odczyty do przeglądu i otwarte zadania.</a:t>
            </a:r>
          </a:p>
        </p:txBody>
      </p:sp>
    </p:spTree>
    <p:extLst>
      <p:ext uri="{BB962C8B-B14F-4D97-AF65-F5344CB8AC3E}">
        <p14:creationId xmlns:p14="http://schemas.microsoft.com/office/powerpoint/2010/main" val="17745885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7888BD-18DD-4308-A7E6-70360C0C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Dokument i odczyt OCR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4AD181-FD42-40B4-8BA5-1127E7D0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CaseCheck   /   3 października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9D9F9-4944-4564-9BF7-364EFA53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D9CDA-5188-4C8F-97F9-1ADD7696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C39"/>
                </a:solidFill>
                <a:latin typeface="Arial"/>
                <a:ea typeface="Arial"/>
                <a:cs typeface="Arial"/>
              </a:rPr>
              <a:t>PDF, TXT i obrazy. Oryginał, transkrypcja oraz korekta każdej strony.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cb1acc09fb4618"/>
          <a:stretch xmlns:a="http://schemas.openxmlformats.org/drawingml/2006/main"/>
        </p:blipFill>
        <p:spPr>
          <a:xfrm xmlns:a="http://schemas.openxmlformats.org/drawingml/2006/main">
            <a:off x="2305264" y="1781175"/>
            <a:ext cx="7581472" cy="426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95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181DED-28D7-43DB-A969-93101C3B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Gdzie pracuje AI i gdzie trafiają dane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59672-61F3-40A7-8719-3756F156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CaseCheck   /   3 października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5C4E1-A3C3-40A4-B53D-3C2CC8BE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28650" y="1476375"/>
          <a:ext xmlns:a="http://schemas.openxmlformats.org/drawingml/2006/main" cx="109347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810000"/>
                <a:gridCol w="4076700"/>
              </a:tblGrid>
              <a:tr h="8667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Czynność</a:t>
                      </a:r>
                    </a:p>
                  </a:txBody>
                  <a:tcPr marL="133350" marR="133350" marT="114300" marB="114300" anchor="ctr">
                    <a:solidFill>
                      <a:srgbClr val="183C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Miejsce przetwarzania</a:t>
                      </a:r>
                    </a:p>
                  </a:txBody>
                  <a:tcPr marL="133350" marR="133350" marT="114300" marB="114300" anchor="ctr">
                    <a:solidFill>
                      <a:srgbClr val="183C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Kontrola</a:t>
                      </a:r>
                    </a:p>
                  </a:txBody>
                  <a:tcPr marL="133350" marR="133350" marT="114300" marB="114300" anchor="ctr">
                    <a:solidFill>
                      <a:srgbClr val="183C39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Zapis, tekst PDF/TXT, reguły pól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Własny serwer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Baza SQLite i oryginały plików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Odczyt informacji przez model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DeepSeek, Anthropic lub OpenAI API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Wybrane źródła i zgoda w sprawie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OCR skanu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OpenAI API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Cały wskazany plik, jawny zakres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Przegląd i zatwierdzenie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Panel zespołu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Cytat, typ pola, wersja danych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A04C8A-C257-45E2-ADE5-DBBFB74D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A582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A582F"/>
                </a:solidFill>
                <a:latin typeface="Arial"/>
                <a:ea typeface="Arial"/>
                <a:cs typeface="Arial"/>
              </a:rPr>
              <a:t>Własny hosting nie oznacza, że treść pozostaje wyłącznie na serwerze.</a:t>
            </a:r>
          </a:p>
        </p:txBody>
      </p:sp>
    </p:spTree>
    <p:extLst>
      <p:ext uri="{BB962C8B-B14F-4D97-AF65-F5344CB8AC3E}">
        <p14:creationId xmlns:p14="http://schemas.microsoft.com/office/powerpoint/2010/main" val="6288531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D580D0-FBC4-4F41-880E-2E442D8E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Roszczenia i kontrola sald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2DC82-8155-4B6A-B3A8-004FF16C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CaseCheck   /   3 października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2078CD-A10A-46ED-953E-0AC08FC3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057A14-A31E-475A-88C4-4C52EA6C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Dane z dokumentu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78534-4C67-46F9-B053-1DC04501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Wierzyciel, umowa, kwoty, daty, zabezpieczenie i stanowisko o sporze.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24F47-FD4B-43F2-8CC4-E79B81EE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Porównywalne kwoty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49336D-B688-4B6A-B125-F2A2EF23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7180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Osobne sumy dla waluty i daty salda. Szacunki pozostają szacunkami.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331DB4-7A28-4A4C-9036-C034BD7F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Cesja i możliwe duplikaty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F3D77F-61E2-44BB-8C13-720504BC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3860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Zespół porównuje źródła i wiąże dokumenty dotyczące jednego długu.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837AB-BD2F-4FF9-8373-4BC7767F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Jawne braki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ECEC33-B5DA-43C8-B582-F871AD47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Nieznana informacja nie staje się potwierdzonym faktem. Odrzucone pozycje wypadają z sum.</a:t>
            </a:r>
          </a:p>
        </p:txBody>
      </p:sp>
    </p:spTree>
    <p:extLst>
      <p:ext uri="{BB962C8B-B14F-4D97-AF65-F5344CB8AC3E}">
        <p14:creationId xmlns:p14="http://schemas.microsoft.com/office/powerpoint/2010/main" val="2718034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73898-7F14-46AE-A288-78974453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Korekty zachowują spójność danych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D2CCC-9EE6-4CBA-8553-8A54360C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CaseCheck   /   3 października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CC6F0-BECC-4016-A916-F6938835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E7F63-839A-41DD-95FB-8E02127B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Nowy wierzyciel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C01A5-AC74-4933-98D3-B754D532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5429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Poprzedni adres wymaga ponownego ustalenia.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D25B74-8492-40B8-B9DC-06205F77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05125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Zmiana sporu lub zabezpieczenia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0AFD8E-A90C-4C7A-BD64-7F6DDC0B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86125"/>
            <a:ext cx="5429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Zależny opis albo data wraca do przeglądu.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A3EA9A-72B5-43FB-AB3D-C5B7D082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Wycofanie wartości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28A3E-B016-46F0-8ABF-8957712B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5429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Ręczne „nieznane” usuwa ją z bieżących danych, zachowując historię.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2417bdbf6441f0"/>
          <a:stretch xmlns:a="http://schemas.openxmlformats.org/drawingml/2006/main"/>
        </p:blipFill>
        <p:spPr>
          <a:xfrm xmlns:a="http://schemas.openxmlformats.org/drawingml/2006/main">
            <a:off x="7387548" y="1390650"/>
            <a:ext cx="3284304" cy="4686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572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12062D-C64B-4F69-BDD6-3DA5CE7D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Pięć wzorów i wzory kancelarii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14C09E-CA0E-450E-9D77-2F57362C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CaseCheck   /   3 października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264E3-8483-469F-9ED5-5FDA00FF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6A7DF-3504-4BC7-8705-A026AF69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Wzory pomocnicze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91E1C-9B34-451A-BF93-2D0958CE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57400"/>
            <a:ext cx="6048375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C39"/>
                </a:solidFill>
                <a:latin typeface="Arial"/>
                <a:ea typeface="Arial"/>
                <a:cs typeface="Arial"/>
              </a:rPr>
              <a:t>Karta przyjęcia sprawy</a:t>
            </a:r>
          </a:p>
          <a:p xmlns:a="http://schemas.openxmlformats.org/drawingml/2006/main">
            <a:pPr>
              <a:defRPr sz="2250" b="0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C39"/>
                </a:solidFill>
                <a:latin typeface="Arial"/>
                <a:ea typeface="Arial"/>
                <a:cs typeface="Arial"/>
              </a:rPr>
              <a:t>Wykaz wierzycieli i zobowiązań</a:t>
            </a:r>
          </a:p>
          <a:p xmlns:a="http://schemas.openxmlformats.org/drawingml/2006/main">
            <a:pPr>
              <a:defRPr sz="2250" b="0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C39"/>
                </a:solidFill>
                <a:latin typeface="Arial"/>
                <a:ea typeface="Arial"/>
                <a:cs typeface="Arial"/>
              </a:rPr>
              <a:t>Prośba o uzupełnienie materiałów</a:t>
            </a:r>
          </a:p>
          <a:p xmlns:a="http://schemas.openxmlformats.org/drawingml/2006/main">
            <a:pPr>
              <a:defRPr sz="2250" b="0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C39"/>
                </a:solidFill>
                <a:latin typeface="Arial"/>
                <a:ea typeface="Arial"/>
                <a:cs typeface="Arial"/>
              </a:rPr>
              <a:t>Prośba o wyjaśnienie roszczenia</a:t>
            </a:r>
          </a:p>
          <a:p xmlns:a="http://schemas.openxmlformats.org/drawingml/2006/main">
            <a:pPr>
              <a:defRPr sz="2250" b="0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C39"/>
                </a:solidFill>
                <a:latin typeface="Arial"/>
                <a:ea typeface="Arial"/>
                <a:cs typeface="Arial"/>
              </a:rPr>
              <a:t>Szkic wstępnego planu firmy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39D94-904B-4773-830B-DA159D6D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28750"/>
            <a:ext cx="432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Własny wzór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AD4FB-7148-4479-A11F-F60D33C5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57400"/>
            <a:ext cx="432435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C39"/>
                </a:solidFill>
                <a:latin typeface="Arial"/>
                <a:ea typeface="Arial"/>
                <a:cs typeface="Arial"/>
              </a:rPr>
              <a:t>Edytor sekcji i pól</a:t>
            </a:r>
          </a:p>
          <a:p xmlns:a="http://schemas.openxmlformats.org/drawingml/2006/main">
            <a:pPr>
              <a:defRPr sz="2175" b="0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C39"/>
                </a:solidFill>
                <a:latin typeface="Arial"/>
                <a:ea typeface="Arial"/>
                <a:cs typeface="Arial"/>
              </a:rPr>
              <a:t>Historia wersji</a:t>
            </a:r>
          </a:p>
          <a:p xmlns:a="http://schemas.openxmlformats.org/drawingml/2006/main">
            <a:pPr>
              <a:defRPr sz="2175" b="0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C39"/>
                </a:solidFill>
                <a:latin typeface="Arial"/>
                <a:ea typeface="Arial"/>
                <a:cs typeface="Arial"/>
              </a:rPr>
              <a:t>Akceptacja konkretnej wersji</a:t>
            </a:r>
          </a:p>
          <a:p xmlns:a="http://schemas.openxmlformats.org/drawingml/2006/main">
            <a:pPr>
              <a:defRPr sz="2175" b="0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C39"/>
                </a:solidFill>
                <a:latin typeface="Arial"/>
                <a:ea typeface="Arial"/>
                <a:cs typeface="Arial"/>
              </a:rPr>
              <a:t>Potwierdzone dane i źródła</a:t>
            </a:r>
          </a:p>
          <a:p xmlns:a="http://schemas.openxmlformats.org/drawingml/2006/main">
            <a:pPr>
              <a:defRPr sz="2175" b="0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C39"/>
                </a:solidFill>
                <a:latin typeface="Arial"/>
                <a:ea typeface="Arial"/>
                <a:cs typeface="Arial"/>
              </a:rPr>
              <a:t>Blokada wymaganych braków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84B7F2-AD4B-4332-94F8-8649549E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483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A582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A582F"/>
                </a:solidFill>
                <a:latin typeface="Arial"/>
                <a:ea typeface="Arial"/>
                <a:cs typeface="Arial"/>
              </a:rPr>
              <a:t>Import dowolnego pliku Word jako wzoru pozostaje do zbudowania.</a:t>
            </a:r>
          </a:p>
        </p:txBody>
      </p:sp>
    </p:spTree>
    <p:extLst>
      <p:ext uri="{BB962C8B-B14F-4D97-AF65-F5344CB8AC3E}">
        <p14:creationId xmlns:p14="http://schemas.microsoft.com/office/powerpoint/2010/main" val="18400962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4E2BB4-8FD7-4294-9A10-60F7A12F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Pismo, PDF i edytowalny Word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0BDA24-4FE3-42F4-A486-0E06D32A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CaseCheck   /   3 października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40A717-1628-4248-877E-7A476E41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D9D0F-4F73-43B4-8E4A-ED35EA77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Przeczytanie i edycja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86EF9-CE3F-4F1F-9787-2997812A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6191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Zmiana treści cofa zatwierdzenie i oznacza ręczny wkład.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9573E-EE19-4047-91C0-A9194E9B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8607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Akceptacja wersji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C282D4-61C8-44B0-9E91-02E9065C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67075"/>
            <a:ext cx="6191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Zatwierdzenie dotyczy określonych danych oraz treści.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8E1D01-AE05-4A77-A49C-E4C63D7D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Eksport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BAD2FC-331E-4928-9B55-948EF72C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29150"/>
            <a:ext cx="6191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PDF zachowuje zatwierdzoną wersję. Word można dalej edytować.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70c9bff3894150"/>
          <a:stretch xmlns:a="http://schemas.openxmlformats.org/drawingml/2006/main"/>
        </p:blipFill>
        <p:spPr>
          <a:xfrm xmlns:a="http://schemas.openxmlformats.org/drawingml/2006/main">
            <a:off x="7852975" y="1371600"/>
            <a:ext cx="3382150" cy="4781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5184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A921F2-5E59-4B70-B8C4-A6A4C9E7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Portal klienta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FFE49-F12F-4DF6-9702-5988FD53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CaseCheck   /   3 października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BA8EE-4574-4B46-91DC-AF450164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57C83-3232-490B-A1AA-9DB6BFAA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567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Jedna sprawa pod linkiem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915446-2A58-4D0E-9342-74388CAB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56769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Status, rozmowa i dostępne pliki klienta.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A9DF2-1DCA-4213-871B-6FD242AC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67025"/>
            <a:ext cx="567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Prośby o uzupełnienie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A570F1-0188-412B-AFF4-B585FBE5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48025"/>
            <a:ext cx="56769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Odpowiedź z dokumentem, ponowienie lub przyjęcie przez zespół.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847257-13A5-4059-ADD7-8EEBA01F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0050"/>
            <a:ext cx="567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Zatwierdzone pisma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552D6F-17A4-4C7A-B465-5237C998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91050"/>
            <a:ext cx="56769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Klient pobiera aktualną wersję PDF. Odczyt ma potwierdzenie.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34f680a844dd5"/>
          <a:stretch xmlns:a="http://schemas.openxmlformats.org/drawingml/2006/main"/>
        </p:blipFill>
        <p:spPr>
          <a:xfrm xmlns:a="http://schemas.openxmlformats.org/drawingml/2006/main">
            <a:off x="6865163" y="1314450"/>
            <a:ext cx="4557673" cy="4838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3929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65D63-CB71-48D4-811F-3D0B5DBF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Role i uprawnienia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3E9BC-5CB2-49E4-8BCE-33F12184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CaseCheck   /   3 października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44263-5192-425C-98A8-E2FA60E2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28650" y="1476375"/>
          <a:ext xmlns:a="http://schemas.openxmlformats.org/drawingml/2006/main" cx="109347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553450"/>
              </a:tblGrid>
              <a:tr h="8667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Rola</a:t>
                      </a:r>
                    </a:p>
                  </a:txBody>
                  <a:tcPr marL="133350" marR="133350" marT="114300" marB="114300" anchor="ctr">
                    <a:solidFill>
                      <a:srgbClr val="183C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Dostęp i odpowiedzialność</a:t>
                      </a:r>
                    </a:p>
                  </a:txBody>
                  <a:tcPr marL="133350" marR="133350" marT="114300" marB="114300" anchor="ctr">
                    <a:solidFill>
                      <a:srgbClr val="183C39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Klient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Własna sprawa, wiadomości, udostępnione materiały i odpowiedzi.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Pracownik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Przygotowanie sprawy, korekty, zadania i projekty.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Prawnik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Przegląd, akceptacja pism, eksport sprawdzonych danych i terminy prawne.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Administrator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Konta, aktywność użytkowników i wersja wiedzy. Sama rola nie zatwierdza pism.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20E5CD-8CE2-41EA-9CC8-2AA319A8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53125"/>
            <a:ext cx="1093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Sprawy kancelarii są rozdzielone. Zespół może wycofać link klienta.</a:t>
            </a:r>
          </a:p>
        </p:txBody>
      </p:sp>
    </p:spTree>
    <p:extLst>
      <p:ext uri="{BB962C8B-B14F-4D97-AF65-F5344CB8AC3E}">
        <p14:creationId xmlns:p14="http://schemas.microsoft.com/office/powerpoint/2010/main" val="7754108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5CF662-2264-4A5E-831B-A0E8FC07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Zadania, rejestry i przekazanie danych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C781F8-D944-4900-94A6-FBE291A0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CaseCheck   /   3 października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1E45EE-9E63-4EC4-83DC-75DC2B6A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29F996-D15D-4DD3-B72A-D1A16A73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Zadania i odpowiedzialność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18A15B-FDEC-4679-A8EB-7A43F920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Osoba prowadząca, data i wykonanie. Termin prawny wymaga podstawy oraz potwierdzenia.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BC2E9-7BBD-49B1-843B-A831F574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Zapytania do KRS i wykazu VAT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BD4A50-EAC7-42BA-AE52-C5519479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7180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Adaptery odczytu danych rejestrowych. Dostępność zależy od usługi publicznej.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C65296-D24E-4AFB-BBAB-F3096314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Pakiet JSON po przeglądzie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A16CE-A64F-4A86-BB49-5EE3FA02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3860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Potwierdzone wartości, cytaty, hashe plików, braki i blokady.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26A51D-19E3-4D9C-9A1D-460F821C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Przygotowanie do integracji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BAFDC5-B9F9-4C4D-B59A-D766C486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Eksport można podłączyć do systemu kancelarii. Gotowy adapter CRM pozostaje do wykonania.</a:t>
            </a:r>
          </a:p>
        </p:txBody>
      </p:sp>
    </p:spTree>
    <p:extLst>
      <p:ext uri="{BB962C8B-B14F-4D97-AF65-F5344CB8AC3E}">
        <p14:creationId xmlns:p14="http://schemas.microsoft.com/office/powerpoint/2010/main" val="15530326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F3F42A-95E4-4BCC-843E-CE2B938A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Odzyskanie opłaconego wyniku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584EA-8100-4265-BCFC-BAC022DD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CaseCheck   /   3 października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27FF8-794A-403D-A4CE-42AB8911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4954B-678E-4E0B-AD86-5EFCB5F5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C39"/>
                </a:solidFill>
                <a:latin typeface="Arial"/>
                <a:ea typeface="Arial"/>
                <a:cs typeface="Arial"/>
              </a:rPr>
              <a:t>Po awarii zapisu zespół odzyskuje wynik bez ponownego wywołania API.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23936eeec243da"/>
          <a:stretch xmlns:a="http://schemas.openxmlformats.org/drawingml/2006/main"/>
        </p:blipFill>
        <p:spPr>
          <a:xfrm xmlns:a="http://schemas.openxmlformats.org/drawingml/2006/main">
            <a:off x="3376448" y="1828800"/>
            <a:ext cx="5439103" cy="41148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888F4F-9C9A-45E3-A0A3-DEDDA993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007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Historia, ochrona nowszych korekt, kopia i odtworzenie stanu.</a:t>
            </a:r>
          </a:p>
        </p:txBody>
      </p:sp>
    </p:spTree>
    <p:extLst>
      <p:ext uri="{BB962C8B-B14F-4D97-AF65-F5344CB8AC3E}">
        <p14:creationId xmlns:p14="http://schemas.microsoft.com/office/powerpoint/2010/main" val="84442790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9A1BB8-4049-4B69-AD93-FC118791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Błędy znalezione i naprawione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CCCB57-7440-48C4-88F7-699D4F8D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CaseCheck   /   3 października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D0119-D39D-4F8B-8A02-D929B44B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28650" y="1476375"/>
          <a:ext xmlns:a="http://schemas.openxmlformats.org/drawingml/2006/main" cx="109347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4019550"/>
                <a:gridCol w="4295775"/>
              </a:tblGrid>
              <a:tr h="8667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Próba</a:t>
                      </a:r>
                    </a:p>
                  </a:txBody>
                  <a:tcPr marL="133350" marR="133350" marT="114300" marB="114300" anchor="ctr">
                    <a:solidFill>
                      <a:srgbClr val="183C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Błąd przed poprawką</a:t>
                      </a:r>
                    </a:p>
                  </a:txBody>
                  <a:tcPr marL="133350" marR="133350" marT="114300" marB="114300" anchor="ctr">
                    <a:solidFill>
                      <a:srgbClr val="183C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Wynik ponowienia</a:t>
                      </a:r>
                    </a:p>
                  </a:txBody>
                  <a:tcPr marL="133350" marR="133350" marT="114300" marB="114300" anchor="ctr">
                    <a:solidFill>
                      <a:srgbClr val="183C39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Wycofanie adresu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Stara wartość nadal aktywna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Jawny brak, historia zachowana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Zmiana wierzyciela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Nowa nazwa i stary adres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Adres do ponownego ustalenia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Pusta edycja pisma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Możliwe zatwierdzenie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Odrzucenie, zachowana treść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Błąd formularza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Komunikat poza widokiem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Widoczny błąd bez utraty wpisu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B8EBC1-BC42-40ED-930E-F385733C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531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Powtórzenia w interfejsie, po restarcie oraz w końcowych PDF i DOCX.</a:t>
            </a:r>
          </a:p>
        </p:txBody>
      </p:sp>
    </p:spTree>
    <p:extLst>
      <p:ext uri="{BB962C8B-B14F-4D97-AF65-F5344CB8AC3E}">
        <p14:creationId xmlns:p14="http://schemas.microsoft.com/office/powerpoint/2010/main" val="13747385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C1CE71-2301-4EBB-8A8F-B43D5826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Co potwierdzają próby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9EDB48-2B39-4243-B746-F53D9CB6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CaseCheck   /   3 października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D51E82-ED0D-4697-B67E-4E850C02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4E1016-A130-4565-9EE8-3FB9BF03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121 / 121 testów kodu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62756-BE2F-4314-98A4-EC65EBE0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Granice danych, uprawnienia, awarie, wersje i regresje. Bez płatnych wywołań.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B677FF-C759-42A6-AED9-B43C36A1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6 / 6 scenariuszy HTTP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ED3E7-7EA1-43D1-BE70-4C206E46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7180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Ostatnie powtórzenie wykorzystało zapisane wyniki API, bez nowych wywołań.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76D438-F5A2-4BF2-88DC-1AED8703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200 krótkich tekstów syntetycznych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D6BBC2-2494-46FE-85DF-75A7F7F1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3860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Historyczne porównanie 1 400 pól. Trzy braki po błędnym JSON. Zestaw służył także rozwojowi reguł.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6785BC-1C81-490C-987D-C5FDC4CC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Ręczny przegląd wyników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27C0AD-3847-4840-8A28-8A0E0EBF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Agent przeczytał wskazane wyniki i eksporty. Ocena niezależnego prawnika pozostaje do wykonania.</a:t>
            </a:r>
          </a:p>
        </p:txBody>
      </p:sp>
    </p:spTree>
    <p:extLst>
      <p:ext uri="{BB962C8B-B14F-4D97-AF65-F5344CB8AC3E}">
        <p14:creationId xmlns:p14="http://schemas.microsoft.com/office/powerpoint/2010/main" val="18956320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12A06E-6950-40B5-823C-22AFDB37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Porównanie zakresu obsługi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0CCF8-EEAE-4775-970F-ADC01FFA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CaseCheck   /   3 października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43FD38-3D63-44D6-BBC3-26B33A0D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28650" y="1476375"/>
          <a:ext xmlns:a="http://schemas.openxmlformats.org/drawingml/2006/main" cx="109347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238625"/>
                <a:gridCol w="4600575"/>
              </a:tblGrid>
              <a:tr h="8667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Obszar</a:t>
                      </a:r>
                    </a:p>
                  </a:txBody>
                  <a:tcPr marL="133350" marR="133350" marT="114300" marB="114300" anchor="ctr">
                    <a:solidFill>
                      <a:srgbClr val="183C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LegalFlow: oferta producenta</a:t>
                      </a:r>
                    </a:p>
                  </a:txBody>
                  <a:tcPr marL="133350" marR="133350" marT="114300" marB="114300" anchor="ctr">
                    <a:solidFill>
                      <a:srgbClr val="183C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CaseCheck: stan aplikacji</a:t>
                      </a:r>
                    </a:p>
                  </a:txBody>
                  <a:tcPr marL="133350" marR="133350" marT="114300" marB="114300" anchor="ctr">
                    <a:solidFill>
                      <a:srgbClr val="183C39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Sprawa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Cykl od leada do archiwizacji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Przyjęcie, przegląd, pisma, zadania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Portal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Współpraca, pliki, powiadomienia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Współpraca i pliki, bez powiadomień zewnętrznych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Dokumenty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Własne wzory, Word/PDF, akceptacja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Pięć wzorów, własny edytor, Word/PDF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Podpis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Podpis elektroniczny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Potwierdzenie odczytu, bez podpisu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4C5DC-AA37-4977-AE40-731485D2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53125"/>
            <a:ext cx="1093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A582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A582F"/>
                </a:solidFill>
                <a:latin typeface="Arial"/>
                <a:ea typeface="Arial"/>
                <a:cs typeface="Arial"/>
              </a:rPr>
              <a:t>Szersza oferta nie jest porównywalnym pomiarem jakości odczytu AI.</a:t>
            </a:r>
          </a:p>
        </p:txBody>
      </p:sp>
    </p:spTree>
    <p:extLst>
      <p:ext uri="{BB962C8B-B14F-4D97-AF65-F5344CB8AC3E}">
        <p14:creationId xmlns:p14="http://schemas.microsoft.com/office/powerpoint/2010/main" val="122676536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D9D0B5-3E16-4BAB-8B51-661CC35E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Integracje i nieznane mechanizmy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B89C0-FE70-411C-84CB-1F7E3738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CaseCheck   /   3 października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EC09CE-6FF0-4C73-8795-9FE9BCB0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28650" y="1476375"/>
          <a:ext xmlns:a="http://schemas.openxmlformats.org/drawingml/2006/main" cx="10934700" cy="4552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4057650"/>
                <a:gridCol w="4448175"/>
              </a:tblGrid>
              <a:tr h="7588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Obszar</a:t>
                      </a:r>
                    </a:p>
                  </a:txBody>
                  <a:tcPr marL="133350" marR="133350" marT="114300" marB="114300" anchor="ctr">
                    <a:solidFill>
                      <a:srgbClr val="183C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LegalFlow: deklaracja</a:t>
                      </a:r>
                    </a:p>
                  </a:txBody>
                  <a:tcPr marL="133350" marR="133350" marT="114300" marB="114300" anchor="ctr">
                    <a:solidFill>
                      <a:srgbClr val="183C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CaseCheck</a:t>
                      </a:r>
                    </a:p>
                  </a:txBody>
                  <a:tcPr marL="133350" marR="133350" marT="114300" marB="114300" anchor="ctr">
                    <a:solidFill>
                      <a:srgbClr val="183C39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CRM i obieg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CRM, SharePoint, KSeF, poczta, SMS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KRS/VAT i JSON, reszta do budowy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Należności kancelarii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Monitoring i monity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Brak modułu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Audio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Wywiad do projektu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Tekst, PDF, obrazy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KRZ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W przygotowaniu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Brak integracji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Jakość i infrastruktura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Szczegóły testów i modeli nieznane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Jawne próby i błędy, zewnętrzne API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140448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223FB1-E0BE-47A6-B2E1-893BA5AF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Gdzie warto poprawić CaseCheck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D2803-6BFF-4475-A59E-AA86403A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CaseCheck   /   3 października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A57124-4169-4085-89E0-F18D2544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F41295-E283-4CDB-9D0D-F25C0CA5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Najpierw jakość na nowych aktach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63423E-B35B-4716-93AF-60F92C5C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Osobny zestaw z kancelarią, ocena źródeł i znaczenia, pomiar czasu korekt.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B42BAD-8798-4FCB-8E53-DFB31366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Następnie jedna integracja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F1AFA-B790-4CEF-9327-51C65AA6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7180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Wybrany CRM, potwierdzenie dostarczenia i odporność na duplikaty.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F667F-1BCE-4B5E-99D5-80FC8EE3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Rozszerzenie wejścia i dokumentów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899B3B-40FE-489D-844E-E37A7F89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3860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Audio, import wzorów Word i dłuższy wywiad z potwierdzanym podsumowaniem.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1DE0F0-C702-4E46-9D7F-FB3427E8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Warunki obsługi rzeczywistych spraw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970E74-DE2B-4EAD-9FB2-FA9BCDFB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Niezależny przegląd, MFA/SSO, procedury danych i test docelowego wdrożenia.</a:t>
            </a:r>
          </a:p>
        </p:txBody>
      </p:sp>
    </p:spTree>
    <p:extLst>
      <p:ext uri="{BB962C8B-B14F-4D97-AF65-F5344CB8AC3E}">
        <p14:creationId xmlns:p14="http://schemas.microsoft.com/office/powerpoint/2010/main" val="149096897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8D84EC-6444-43E4-8EC8-1CA67B80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Propozycja współpracy freelance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88A76-A5E8-4B2A-A3D7-32FBE13F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CaseCheck   /   3 października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5FE29-2E73-4008-B0DB-EFCB37FE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0FCED-462A-4244-8029-2DE9FF95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76375"/>
            <a:ext cx="109347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Moduł przeglądu dokumentów</a:t>
            </a:r>
          </a:p>
          <a:p xmlns:a="http://schemas.openxmlformats.org/drawingml/2006/main">
            <a:pPr>
              <a:defRPr sz="3450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i kontroli jakości danych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D7E85-3A0D-4655-849D-5241D884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956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Zakres pierwszego zlecenia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F6A200-9B6C-454A-B850-FE88180F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766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Jeden typ dokumentu, pola uzgodnione z zespołem i przekazanie wyniku do ich systemu.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683F6F-8C86-4CFD-ACC2-D287535A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671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Warunek odbioru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BC82A-4D67-4356-95FB-6D57F9CE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4817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Wspólny zestaw przypadków, lista błędów, czas przeglądu oraz koszt API.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A8EB29-9D93-43A5-ABFB-2A76D34C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387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Materiał do rozmowy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3B3A2C-E4CE-4B56-B6B4-8C7575AD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97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Działający kod, pokaz źródeł i korekt, raport napraw oraz powtarzalny scenariusz.</a:t>
            </a:r>
          </a:p>
        </p:txBody>
      </p:sp>
    </p:spTree>
    <p:extLst>
      <p:ext uri="{BB962C8B-B14F-4D97-AF65-F5344CB8AC3E}">
        <p14:creationId xmlns:p14="http://schemas.microsoft.com/office/powerpoint/2010/main" val="173096263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02D82-D8C7-4DCD-AF44-1E8B5066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Utrzymanie i granice produktu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7D650-C30F-4439-8C32-747D21BD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CaseCheck   /   3 października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7D694-D2D2-4E54-89FC-CF19118B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28650" y="1476375"/>
          <a:ext xmlns:a="http://schemas.openxmlformats.org/drawingml/2006/main" cx="109347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14950"/>
                <a:gridCol w="5619750"/>
              </a:tblGrid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Dostępne</a:t>
                      </a:r>
                    </a:p>
                  </a:txBody>
                  <a:tcPr marL="133350" marR="133350" marT="114300" marB="114300" anchor="ctr">
                    <a:solidFill>
                      <a:srgbClr val="183C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Do dalszego rozwoju lub weryfikacji</a:t>
                      </a:r>
                    </a:p>
                  </a:txBody>
                  <a:tcPr marL="133350" marR="133350" marT="114300" marB="114300" anchor="ctr">
                    <a:solidFill>
                      <a:srgbClr val="183C3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Własny serwer, SQLite, prywatne klucze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Warunki dostawców API i procedury kancelarii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Kopie, odtworzenie, audyt zmian, hashe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Niezależne badanie bezpieczeństwa i obciążenia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Zgoda na API i trwały limit liczby wywołań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Limit kosztu w pieniądzu i monitoring produkcyjny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GitHub i testy na Node 22/24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Aktualizacja najnowszej wersji na VPS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Wzory pomocnicze i dane ze źródeł sprawy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C39"/>
                          </a:solidFill>
                          <a:latin typeface="Arial"/>
                          <a:ea typeface="Arial"/>
                          <a:cs typeface="Arial"/>
                        </a:rPr>
                        <a:t>Wyszukiwarka prawa, pełne postępowanie, e-podpis</a:t>
                      </a:r>
                    </a:p>
                  </a:txBody>
                  <a:tcPr marL="133350" marR="133350" marT="114300" marB="114300" anchor="ctr">
                    <a:solidFill>
                      <a:srgbClr val="F7F6F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995701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619A69-4042-46F4-B217-F60BBAEF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Kod, instrukcja i dowody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DE245-F830-4EA9-A311-32E76017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CaseCheck   /   3 października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009F56-B827-4724-A6E7-7F9F216C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542396-9B46-4630-8F0A-6F65ACFB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GitHub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E67CD-0C2A-41D2-8E25-1DB83760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109347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github.com/krapcys1-maker/casecheck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E5393-BDFB-43F6-BF91-9FC9AAFD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03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Instrukcja i ręczne wyniki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C2D65-24EE-4489-AA8E-715F3F32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81325"/>
            <a:ext cx="109347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docs/OBSLUGA.md   oraz   docs/RECZNE-TESTY-KOREKT.md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703D2D-B356-4F41-9970-08F881D8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766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Zakres porównania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A8705D-A8E3-462B-82B4-CC68F02B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109347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docs/POROWNANIE-LEGALFLOW.md</a:t>
            </a:r>
          </a:p>
          <a:p xmlns:a="http://schemas.openxmlformats.org/drawingml/2006/main">
            <a:pPr>
              <a:defRPr sz="2025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Źródła: restrukturyzacja.boosterai.pl, boosterai.pl/pl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D3DC45-76B2-47E8-840E-3C4E5771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529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3C3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C39"/>
                </a:solidFill>
                <a:latin typeface="Arial"/>
                <a:ea typeface="Arial"/>
                <a:cs typeface="Arial"/>
              </a:rPr>
              <a:t>Stan prezentacji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5F8382-C662-41A1-BCAB-B7D607FF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33975"/>
            <a:ext cx="109347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6D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86D68"/>
                </a:solidFill>
                <a:latin typeface="Arial"/>
                <a:ea typeface="Arial"/>
                <a:cs typeface="Arial"/>
              </a:rPr>
              <a:t>3 października 2026. Przykłady fikcyjne. Projekt rozwijany z pomocą AI.</a:t>
            </a:r>
          </a:p>
        </p:txBody>
      </p:sp>
    </p:spTree>
    <p:extLst>
      <p:ext uri="{BB962C8B-B14F-4D97-AF65-F5344CB8AC3E}">
        <p14:creationId xmlns:p14="http://schemas.microsoft.com/office/powerpoint/2010/main" val="17695110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2026-10-03T11:33:42.6970000Z</dcterms:created>
  <dcterms:modified xsi:type="dcterms:W3CDTF">2026-10-03T11:33:42.6970000Z</dcterms:modified>
</coreProperties>
</file>